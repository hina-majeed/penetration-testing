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03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Penetration Testing - Complete Student Guide. This presentation is designed for BS-IT students and covers penetration testing from basics to intermediate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Penetration testing is like hiring someone to try to break into your house to find weaknesses in your security before real burglars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security guard just monitors. A penetration tester actively tries to break in (with permission) to find all the weaknesses.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Organizations do penetration testing to find weaknesses before attackers find them. It's better to be safe than sorry.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5 main types of pen testing. Each targets a different part of an organization's technology. Web apps are most commonly tested because most businesses have websites.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The 7-step methodology is how professional pen testers work. Emphasize that PERMISSION is always required before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is the most critical phase. Without proper authorization and defined scope, pen testing becomes illegal hacking. Always emphasize the legal and ethical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Passive recon: gathering info without touching the target (safe, like reading a map). Active recon: directly probing the target (triggers alerts, needs permission).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Scanning maps out everything about the target network. Think of it like using a blueprint of a building before breaking in - you need to know where all the doors and windows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Vulnerability assessment uses automated tools and manual testing to find weaknesses. CVSS (Common Vulnerability Scoring System) rates vulnerabilities from 1-10.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Exploitation proves a vulnerability is real and dangerous. The key constraint is to NOT cause harm — document everything and stop if damage might occur.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is the final deliverable. A good pen test report has both technical details (for developers) and an executive summary (for management). The goal is to fix vulnerabilities, not just find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real-world example shows how pen testing works from start to finish. The university example is relatable for students. Key insight: without pen testing, 5,000 student records could have been stolen.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is crucial for students. Same technical skills, completely different outcomes based on permission and intent. Ethical hackers get paid; malicious hackers go to jail.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don't need to know all of this at once! Start with networking and Linux basics. The most important skill is curiosity and the hacker mindset.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Cybersecurity is one of the fastest growing career fields. There are over 3.5 million unfilled cybersecurity jobs globally. Starting salaries are excellent.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 testing is challenging but rewarding. The biggest challenge is keeping up with new threats. The best pen testers are always learning and curious.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field is evolving rapidly. AI is changing how pen testing is done. Cloud and IoT are creating massive new attack surfaces. This is a great time to enter cybersecurity.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main points. The most important messages are: permission is required, the 7-step methodology, and cybersecurity is a great career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Q&amp;A. Encourage students to practice on free labs like TryHackMe (free tier) and HackTheBox. Remind them that ethical hacking requires permission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2137">
              <a:alpha val="80000"/>
            </a:srgbClr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0"/>
            <a:ext cx="2286000" cy="2286000"/>
          </a:xfrm>
          <a:prstGeom prst="ellipse">
            <a:avLst/>
          </a:prstGeom>
          <a:solidFill>
            <a:srgbClr val="091525">
              <a:alpha val="80000"/>
            </a:srgbClr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D2137">
              <a:alpha val="80000"/>
            </a:srgbClr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0"/>
            <a:ext cx="45720" cy="5143500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02920"/>
            <a:ext cx="2286000" cy="2926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2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(Ethical Hacking)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54624" y="2543159"/>
            <a:ext cx="3657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1024" y="274320"/>
            <a:ext cx="2743200" cy="2743200"/>
          </a:xfrm>
          <a:prstGeom prst="ellipse">
            <a:avLst/>
          </a:prstGeom>
          <a:solidFill>
            <a:srgbClr val="1122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1024" y="2743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🛡️</a:t>
            </a:r>
            <a:endParaRPr lang="en-US" sz="72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Cybersecurity Through Ethical Hacking Principles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E33CBD-5206-D5FF-A0EA-E2F2D3D4FB41}"/>
              </a:ext>
            </a:extLst>
          </p:cNvPr>
          <p:cNvSpPr txBox="1"/>
          <p:nvPr/>
        </p:nvSpPr>
        <p:spPr>
          <a:xfrm>
            <a:off x="628489" y="2680514"/>
            <a:ext cx="37606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By:-</a:t>
            </a:r>
          </a:p>
          <a:p>
            <a:r>
              <a:rPr lang="en-US" dirty="0">
                <a:solidFill>
                  <a:schemeClr val="bg1"/>
                </a:solidFill>
              </a:rPr>
              <a:t>	Taha Azeem</a:t>
            </a:r>
          </a:p>
          <a:p>
            <a:r>
              <a:rPr lang="en-US" dirty="0">
                <a:solidFill>
                  <a:schemeClr val="bg1"/>
                </a:solidFill>
              </a:rPr>
              <a:t>	Rana Athar Khan</a:t>
            </a:r>
          </a:p>
          <a:p>
            <a:r>
              <a:rPr lang="en-US" dirty="0">
                <a:solidFill>
                  <a:schemeClr val="bg1"/>
                </a:solidFill>
              </a:rPr>
              <a:t>	Umair Nazeer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Hina Tabasum</a:t>
            </a:r>
          </a:p>
          <a:p>
            <a:r>
              <a:rPr lang="en-US" dirty="0">
                <a:solidFill>
                  <a:schemeClr val="bg1"/>
                </a:solidFill>
              </a:rPr>
              <a:t>	Madeeha Farzand</a:t>
            </a:r>
          </a:p>
          <a:p>
            <a:r>
              <a:rPr lang="en-US">
                <a:solidFill>
                  <a:schemeClr val="bg1"/>
                </a:solidFill>
              </a:rPr>
              <a:t>                 </a:t>
            </a:r>
            <a:r>
              <a:rPr lang="en-US" dirty="0">
                <a:solidFill>
                  <a:schemeClr val="bg1"/>
                </a:solidFill>
              </a:rPr>
              <a:t>Fatima Rafique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7E3C6F3C-F1D7-3E8C-87EB-EE99DA4371F0}"/>
              </a:ext>
            </a:extLst>
          </p:cNvPr>
          <p:cNvSpPr/>
          <p:nvPr/>
        </p:nvSpPr>
        <p:spPr>
          <a:xfrm>
            <a:off x="457200" y="4627428"/>
            <a:ext cx="3657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Penetration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cybersecurity matters in the digital 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474720" cy="10058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43%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 attacks target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3474720" cy="10058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450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$4.45M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 (2023)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3474720" cy="10058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639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277 days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identify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1188720"/>
            <a:ext cx="4663440" cy="356616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188720"/>
            <a:ext cx="4663440" cy="4114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188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Penetration Testing?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1960" y="1691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(Pen Testing) is the practice of intentionally attacking a computer system, network, or application — WITH PERMISSION — to find security weaknesses before real hackers do.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5196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Find vulnerabilities before attackers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3136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Strengthen security defenses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34838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Meet compliance requirements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38313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Understand real attack methods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4178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Verify security controls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Penetration Testing?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real-world analogy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749040" cy="334213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37490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Regular Security Guard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🔒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182880" cy="182880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doors at night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182880" cy="182880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81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ID badges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182880" cy="182880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cameras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182880" cy="182880"/>
          </a:xfrm>
          <a:prstGeom prst="ellipse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04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security is 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70040" y="2633472"/>
            <a:ext cx="7315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0120" y="2450591"/>
            <a:ext cx="365760" cy="43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FF"/>
                </a:solidFill>
              </a:rPr>
              <a:t>▶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0624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1115568"/>
            <a:ext cx="3749040" cy="3369564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0640" y="1124963"/>
            <a:ext cx="3749040" cy="3657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124963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Ethical Hacker (Pen Tester)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1627883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🔍</a:t>
            </a:r>
            <a:endParaRPr lang="en-US" sz="6000" dirty="0"/>
          </a:p>
        </p:txBody>
      </p:sp>
      <p:sp>
        <p:nvSpPr>
          <p:cNvPr id="25" name="Shape 23"/>
          <p:cNvSpPr/>
          <p:nvPr/>
        </p:nvSpPr>
        <p:spPr>
          <a:xfrm>
            <a:off x="5266568" y="2697480"/>
            <a:ext cx="182880" cy="182880"/>
          </a:xfrm>
          <a:prstGeom prst="ellipse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265201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BREAK IN (with permission)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57800" y="3090923"/>
            <a:ext cx="182880" cy="182880"/>
          </a:xfrm>
          <a:prstGeom prst="ellipse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306349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every door &amp; window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60305" y="3520440"/>
            <a:ext cx="182880" cy="182880"/>
          </a:xfrm>
          <a:prstGeom prst="ellipse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347497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hidden weaknesses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57800" y="3913883"/>
            <a:ext cx="182880" cy="182880"/>
          </a:xfrm>
          <a:prstGeom prst="ellipse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388645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fixes all issues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21705" y="4530852"/>
            <a:ext cx="6269276" cy="3657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53227" y="4526280"/>
            <a:ext cx="56705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of a Pen Tester as a hired lockpicker who helps you find weaknesses in your security!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Need Penetration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vs.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Vulnerabilities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security gaps before attackers 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60604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298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Cyber Attacks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194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stop attacks before they happen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8872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2984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220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194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data, financial records stay safe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08960"/>
            <a:ext cx="26060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18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1148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114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PCI-DSS, HIPAA, ISO 27001 standards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108960"/>
            <a:ext cx="260604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218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29184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Costs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4114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is cheaper than breach recovery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108960"/>
            <a:ext cx="26060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218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17220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4114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trust businesses with strong security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Penetration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attack surfaces require different approaches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73152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435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179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websites &amp; web apps for vulnerabilities like SQL injection, XSS, authentication flaws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371600"/>
            <a:ext cx="594360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3716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65836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47672"/>
            <a:ext cx="73152" cy="65836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025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2002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276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firewalls, routers, switches and network infrastructure for weak configurations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2440" y="2130552"/>
            <a:ext cx="594360" cy="256032"/>
          </a:xfrm>
          <a:prstGeom prst="rect">
            <a:avLst/>
          </a:prstGeom>
          <a:solidFill>
            <a:srgbClr val="00FF94">
              <a:alpha val="25000"/>
            </a:srgbClr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2130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8412480" cy="65836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06624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614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📶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8872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035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WiFi networks for weak encryption, unauthorized access points and rogue devices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2889504"/>
            <a:ext cx="594360" cy="256032"/>
          </a:xfrm>
          <a:prstGeom prst="rect">
            <a:avLst/>
          </a:prstGeom>
          <a:solidFill>
            <a:srgbClr val="FF6B35">
              <a:alpha val="2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28895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465576"/>
            <a:ext cx="8412480" cy="65836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65576"/>
            <a:ext cx="73152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20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18872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Testing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Android/iOS apps for data leakage, insecure storage and API vulnerabilities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3648456"/>
            <a:ext cx="594360" cy="256032"/>
          </a:xfrm>
          <a:prstGeom prst="rect">
            <a:avLst/>
          </a:prstGeom>
          <a:solidFill>
            <a:srgbClr val="7B2FBE">
              <a:alpha val="25000"/>
            </a:srgbClr>
          </a:solidFill>
          <a:ln w="6350">
            <a:solidFill>
              <a:srgbClr val="7B2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36484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224528"/>
            <a:ext cx="73152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279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188720" y="4279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Testing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45537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cloud infrastructure on AWS, Azure, GCP for misconfigurations and data exposure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92440" y="4407408"/>
            <a:ext cx="594360" cy="256032"/>
          </a:xfrm>
          <a:prstGeom prst="rect">
            <a:avLst/>
          </a:prstGeom>
          <a:solidFill>
            <a:srgbClr val="FFD700">
              <a:alpha val="25000"/>
            </a:srgbClr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44074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Complete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850392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920240"/>
            <a:ext cx="5486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53896"/>
            <a:ext cx="1005840" cy="10058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2704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Scope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1920240"/>
            <a:ext cx="548640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1453896"/>
            <a:ext cx="1005840" cy="1005840"/>
          </a:xfrm>
          <a:prstGeom prst="ellipse">
            <a:avLst/>
          </a:prstGeom>
          <a:solidFill>
            <a:srgbClr val="00FF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52704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94760" y="1920240"/>
            <a:ext cx="5486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1453896"/>
            <a:ext cx="1005840" cy="10058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152704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Enumerat'n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83480" y="1920240"/>
            <a:ext cx="54864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1453896"/>
            <a:ext cx="1005840" cy="10058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152704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3192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1920240"/>
            <a:ext cx="548640" cy="7315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1453896"/>
            <a:ext cx="1005840" cy="1005840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52704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2064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60920" y="1920240"/>
            <a:ext cx="54864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453896"/>
            <a:ext cx="1005840" cy="10058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52704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0936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43800" y="1453896"/>
            <a:ext cx="1005840" cy="10058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152704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9808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337560"/>
            <a:ext cx="1993392" cy="74980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6576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scope, get written permission, set rules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50592" y="3337560"/>
            <a:ext cx="1993392" cy="74980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42032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42032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info about target using OSINT &amp; scans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26864" y="3337560"/>
            <a:ext cx="1993392" cy="74980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18304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Scanning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18304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networks, find open ports &amp; services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03136" y="3337560"/>
            <a:ext cx="1993392" cy="74980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94576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Vuln Analysis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94576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exploitable vulnerabilities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463040" y="4160520"/>
            <a:ext cx="2011680" cy="74980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55448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Exploit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544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test the vulnerabilities found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49040" y="4160520"/>
            <a:ext cx="2011680" cy="74980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4048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Post-Exploit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404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damage potential &amp; lateral movement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35040" y="4160520"/>
            <a:ext cx="2011680" cy="74980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12648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Report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264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 &amp; provide fix recommendations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Planning &amp;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 ethical penetration 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37490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114800" cy="38404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Pre-Test Checklist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728216"/>
            <a:ext cx="256032" cy="2560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691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Permission Obtained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167128"/>
            <a:ext cx="256032" cy="2560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130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Defined (which systems)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256032" cy="2560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5694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Dates &amp; Times Set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044952"/>
            <a:ext cx="256032" cy="2560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30083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 Written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483864"/>
            <a:ext cx="256032" cy="2560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4472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 Listed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922776"/>
            <a:ext cx="256032" cy="2560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8862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Plan in Place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361688"/>
            <a:ext cx="256032" cy="2560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61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43251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Non-Disclosure Agreement Signed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1188720"/>
            <a:ext cx="4069080" cy="169164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Golden Rule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16276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 a system without written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permission. Without it, you are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hacker — not an ethical one!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3017520"/>
            <a:ext cx="4069080" cy="192024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Scope Defines: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Which IP addresses/domains to test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types of attacks are allowed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Which systems are OFF LIMITS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4526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Testing window (date/time)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Reconnaissance (Information Gathering)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target before you test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35661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114800" cy="38404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Passive Reconnaissance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contact with target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OSINT (Open Source Intelligence)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32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Google Dorking / Search Engines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LinkedIn / Social Media Mining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WHOIS Domain Lookups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News Articles &amp; Public 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Job Postings (reveals tech stack)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4069080" cy="35661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88720"/>
            <a:ext cx="4069080" cy="38404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Active Reconnaissance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7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interaction with target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Network Scanning (Nmap)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432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🏓 Ping Sweeps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DNS Enumeration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Port Scanning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Banner Grabbing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May trigger alerts! (requires permission)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1234440"/>
            <a:ext cx="182880" cy="3456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Scanning &amp; Enumeration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attack surface in detail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12240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65451" y="1508760"/>
            <a:ext cx="1789839" cy="772665"/>
          </a:xfrm>
          <a:prstGeom prst="line">
            <a:avLst/>
          </a:prstGeom>
          <a:noFill/>
          <a:ln w="10160">
            <a:solidFill>
              <a:srgbClr val="00D4F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942537" y="1344396"/>
            <a:ext cx="11887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8257" y="1408747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88257" y="1820227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5355035" y="1226128"/>
            <a:ext cx="1789839" cy="1078991"/>
          </a:xfrm>
          <a:prstGeom prst="line">
            <a:avLst/>
          </a:prstGeom>
          <a:noFill/>
          <a:ln w="10160">
            <a:solidFill>
              <a:srgbClr val="00FF9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989320" y="1185499"/>
            <a:ext cx="11887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231219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72737" y="1647649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880360"/>
            <a:ext cx="1789839" cy="342738"/>
          </a:xfrm>
          <a:prstGeom prst="line">
            <a:avLst/>
          </a:prstGeom>
          <a:noFill/>
          <a:ln w="10160">
            <a:solidFill>
              <a:srgbClr val="FF6B3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080760" y="2773707"/>
            <a:ext cx="11887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83838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324986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Version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V="1">
            <a:off x="1463040" y="2994663"/>
            <a:ext cx="2342667" cy="617217"/>
          </a:xfrm>
          <a:prstGeom prst="line">
            <a:avLst/>
          </a:prstGeom>
          <a:noFill/>
          <a:ln w="10160">
            <a:solidFill>
              <a:srgbClr val="7B2FB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416193" y="2960370"/>
            <a:ext cx="11887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6193" y="300609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31890" y="3400425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V="1">
            <a:off x="3855935" y="3397447"/>
            <a:ext cx="441745" cy="960764"/>
          </a:xfrm>
          <a:prstGeom prst="line">
            <a:avLst/>
          </a:prstGeom>
          <a:noFill/>
          <a:ln w="10160">
            <a:solidFill>
              <a:srgbClr val="FFD70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017520" y="3726180"/>
            <a:ext cx="11887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399293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00400" y="4572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91501" y="3251927"/>
            <a:ext cx="835517" cy="911167"/>
          </a:xfrm>
          <a:prstGeom prst="line">
            <a:avLst/>
          </a:prstGeom>
          <a:noFill/>
          <a:ln w="10160">
            <a:solidFill>
              <a:srgbClr val="00BCD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190186" y="3682526"/>
            <a:ext cx="11887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0186" y="372824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0" y="4572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What scanning reveals: IP ranges • OS types • Open ports • Running services • Software versions • User accounts • Network shares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Vulnerability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weak spots in the armor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8872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0" y="1234440"/>
            <a:ext cx="1188720" cy="594360"/>
          </a:xfrm>
          <a:prstGeom prst="rect">
            <a:avLst/>
          </a:prstGeom>
          <a:solidFill>
            <a:srgbClr val="172A45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234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1188720" cy="594360"/>
          </a:xfrm>
          <a:prstGeom prst="rect">
            <a:avLst/>
          </a:prstGeom>
          <a:solidFill>
            <a:srgbClr val="1122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34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118872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234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1234440"/>
            <a:ext cx="1188720" cy="594360"/>
          </a:xfrm>
          <a:prstGeom prst="rect">
            <a:avLst/>
          </a:prstGeom>
          <a:solidFill>
            <a:srgbClr val="172A45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234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Ctrl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1234440"/>
            <a:ext cx="1188720" cy="594360"/>
          </a:xfrm>
          <a:prstGeom prst="rect">
            <a:avLst/>
          </a:prstGeom>
          <a:solidFill>
            <a:srgbClr val="1122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234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11887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874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1874520"/>
            <a:ext cx="1188720" cy="594360"/>
          </a:xfrm>
          <a:prstGeom prst="rect">
            <a:avLst/>
          </a:prstGeom>
          <a:solidFill>
            <a:srgbClr val="2D1B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1874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Weak Pass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874520"/>
            <a:ext cx="11887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874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874520"/>
            <a:ext cx="1188720" cy="594360"/>
          </a:xfrm>
          <a:prstGeom prst="rect">
            <a:avLst/>
          </a:prstGeom>
          <a:solidFill>
            <a:srgbClr val="2D00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874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Outdated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1874520"/>
            <a:ext cx="11887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874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1874520"/>
            <a:ext cx="1188720" cy="594360"/>
          </a:xfrm>
          <a:prstGeom prst="rect">
            <a:avLst/>
          </a:prstGeom>
          <a:solidFill>
            <a:srgbClr val="2D1B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1874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651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Severity Levels (CVSS Scale):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2999232"/>
            <a:ext cx="155448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999232"/>
            <a:ext cx="155448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2004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" y="3794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lead to full system compromise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20824" y="2999232"/>
            <a:ext cx="155448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020824" y="2999232"/>
            <a:ext cx="15544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20824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🟠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2020824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93976" y="3794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risk, needs urgent fix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21608" y="2999232"/>
            <a:ext cx="155448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721608" y="2999232"/>
            <a:ext cx="155448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21608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🟡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3721608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794760" y="3794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risk, fix soon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22392" y="2999232"/>
            <a:ext cx="155448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22392" y="2999232"/>
            <a:ext cx="155448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22392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5422392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95544" y="3794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risk, fix in next cycle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23176" y="2999232"/>
            <a:ext cx="155448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123176" y="2999232"/>
            <a:ext cx="15544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23176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123176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96328" y="3794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Informational, no direct risk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Controlled Exploitation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proving that vulnerabilities are real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457200"/>
          </a:xfrm>
          <a:prstGeom prst="rect">
            <a:avLst/>
          </a:prstGeom>
          <a:solidFill>
            <a:srgbClr val="2D000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73152" cy="4572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PERMISSION REQUIRED: Never attempt exploitation without written authorization. This is illegal!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4023360" cy="19202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55648"/>
            <a:ext cx="4023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What is Exploitation?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176272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is the process of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using a found vulnerability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it can be exploited.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Show the organization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dangerous the flaw 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755648"/>
            <a:ext cx="4023360" cy="19202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755648"/>
            <a:ext cx="4023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Rules During Exploitation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176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Only test agreed-upon systems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459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 everything you 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Don't delete or modify data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026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Stop if real damage may occur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310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Alert client if critical issue found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14173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22192"/>
            <a:ext cx="14173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7705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57400" y="3822192"/>
            <a:ext cx="14173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57400" y="3822192"/>
            <a:ext cx="141732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387705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it's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49040" y="3822192"/>
            <a:ext cx="14173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49040" y="3822192"/>
            <a:ext cx="14173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387705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40680" y="3822192"/>
            <a:ext cx="14173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40680" y="3822192"/>
            <a:ext cx="14173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387705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32320" y="3822192"/>
            <a:ext cx="1417320" cy="8229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32320" y="3822192"/>
            <a:ext cx="14173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387705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Reporting &amp;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findings into actionable security improvements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926080" cy="35661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926080" cy="384048"/>
          </a:xfrm>
          <a:prstGeom prst="rect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Report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320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 for management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240280"/>
            <a:ext cx="320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Methodology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24414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tested and how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320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26974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2944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all vulnerabilities found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320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2004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3447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Critical/High/Medium/Low/Info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749040"/>
            <a:ext cx="320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3950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the vuln is exploitable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251960"/>
            <a:ext cx="320040" cy="320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206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0" y="4453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fix instructions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1188720"/>
            <a:ext cx="5303520" cy="35661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0" y="1188720"/>
            <a:ext cx="5303520" cy="38404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1188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Remediation Workflow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11880" y="1691640"/>
            <a:ext cx="498348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39312" y="1737360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Report Delivered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13048" y="2240280"/>
            <a:ext cx="54864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11880" y="2295144"/>
            <a:ext cx="498348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39312" y="2340864"/>
            <a:ext cx="384048" cy="384048"/>
          </a:xfrm>
          <a:prstGeom prst="ellipse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14800" y="23865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Management Review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813048" y="2843784"/>
            <a:ext cx="54864" cy="914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11880" y="2898648"/>
            <a:ext cx="498348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39312" y="2944368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9312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114800" y="29900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Dev Team Fixes Issues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813048" y="3447288"/>
            <a:ext cx="54864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11880" y="3502152"/>
            <a:ext cx="498348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639312" y="3547872"/>
            <a:ext cx="384048" cy="38404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39312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14800" y="35935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Pen Tester Verifies Fixes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13048" y="4050792"/>
            <a:ext cx="54864" cy="914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11880" y="4105656"/>
            <a:ext cx="498348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39312" y="4151376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3931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114800" y="41970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Final Clean Report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Example: University Website Security Check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from start to finish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6596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965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signs contract &amp; defines scope: test only student portal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96312" y="1188720"/>
            <a:ext cx="196596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188720"/>
            <a:ext cx="196596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87752" y="17830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87752" y="20574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tester finds tech stack: PHP/MySQL, Apache server v2.4 (outdated)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62272" y="17373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FF94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72584" y="1188720"/>
            <a:ext cx="196596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1188720"/>
            <a:ext cx="19659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64024" y="17830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4024" y="20574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reveals port 8080 open with admin panel accessible from internet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38544" y="17373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48856" y="1188720"/>
            <a:ext cx="196596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1188720"/>
            <a:ext cx="19659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40296" y="17830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Found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0296" y="20574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has default credentials: admin/password123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017520"/>
            <a:ext cx="196596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17520"/>
            <a:ext cx="196596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11480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8862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logs in, downloads sample student record to prove access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86000" y="35661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4444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496312" y="3017520"/>
            <a:ext cx="196596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96312" y="3017520"/>
            <a:ext cx="196596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2587752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87752" y="38862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 reported: 5,000 student records were at risk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62272" y="35661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D4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72584" y="3017520"/>
            <a:ext cx="1965960" cy="15087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72584" y="3017520"/>
            <a:ext cx="196596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4764024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Fixed!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64024" y="38862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patches server, changes credentials, hides admin panel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Hacker vs. Malicious Hacker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skills — completely different purpose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145286"/>
            <a:ext cx="3931920" cy="3561588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01852"/>
            <a:ext cx="3931920" cy="475488"/>
          </a:xfrm>
          <a:prstGeom prst="rect">
            <a:avLst/>
          </a:prstGeom>
          <a:solidFill>
            <a:srgbClr val="00FF94">
              <a:alpha val="8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🦸 Ethical Hacker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 Hat)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Has written permission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within agreed scope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Documents all activities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Reports vulnerabilities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Helps fix security issues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Paid professional job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032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Legally protected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407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Improves security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1131570"/>
            <a:ext cx="3931920" cy="358902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101852"/>
            <a:ext cx="3931920" cy="475488"/>
          </a:xfrm>
          <a:prstGeom prst="rect">
            <a:avLst/>
          </a:prstGeom>
          <a:solidFill>
            <a:srgbClr val="FF4444">
              <a:alpha val="8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1887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🦹 Malicious Hacker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11887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(Black Hat)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permission whatsoever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21579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Targets anyone for personal gain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Hides their activity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Steals data for profit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Causes damage and disruption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Criminal activity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4032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Faces jail time &amp; fines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4407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Harms organizations &amp; people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9120" y="1234440"/>
            <a:ext cx="365760" cy="36118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44568" y="1234440"/>
            <a:ext cx="45719" cy="3493008"/>
          </a:xfrm>
          <a:prstGeom prst="rect">
            <a:avLst/>
          </a:prstGeom>
          <a:solidFill>
            <a:srgbClr val="8892B0">
              <a:alpha val="50000"/>
            </a:srgbClr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63040" y="46634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The ONLY difference: PERMISSION + ETHICS. Same technical skills — completely different consequences!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Needed for Penetration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roadmap to becoming a pen tester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60520" cy="80467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Networking Fundamentals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636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TCP/IP, DNS, HTTP, Firewalls, Routing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9260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2633472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783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160520" cy="80467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Linux Basics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5636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line, file system, permissions, scripting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828800"/>
            <a:ext cx="29260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828800"/>
            <a:ext cx="2487168" cy="10972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1783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194560"/>
            <a:ext cx="4160520" cy="80467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Web Technologies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23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JavaScript, PHP, REST APIs, HTTP methods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29260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788920"/>
            <a:ext cx="2340864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7432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4160520" cy="80467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Databases (SQL)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523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queries, database structure, injections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788920"/>
            <a:ext cx="29260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788920"/>
            <a:ext cx="2194560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36408" y="27432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154680"/>
            <a:ext cx="4160520" cy="80467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Programming/Scripting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4838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basics, Bash scripting, automation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29260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749040"/>
            <a:ext cx="2048256" cy="10972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3703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154680"/>
            <a:ext cx="4160520" cy="80467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Cryptography Basics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4838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hashing, SSL/TLS, certificates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749040"/>
            <a:ext cx="29260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749040"/>
            <a:ext cx="1901952" cy="1097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36408" y="3703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114800"/>
            <a:ext cx="4160520" cy="80467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Security Mindset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443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like an attacker, creative problem solving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709160"/>
            <a:ext cx="29260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709160"/>
            <a:ext cx="2779776" cy="1097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7288" y="46634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4114800"/>
            <a:ext cx="4160520" cy="80467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46320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Continuous Learning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46320" y="4443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CVEs, new exploits, evolving threats daily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4709160"/>
            <a:ext cx="29260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4709160"/>
            <a:ext cx="2926080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36408" y="46634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 in Cybersecurity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opens many doors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06040" cy="17373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$80K–$150K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04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systems for vulnerabilities professionally for companies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06040" cy="17373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0604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2801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0" y="20756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$65K–$120K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304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detect and respond to security incidents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606040" cy="17373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18872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2801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7220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72200" y="20756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$55K–$100K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304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Security Operations Center to defend organizations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154680"/>
            <a:ext cx="2606040" cy="17373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54680"/>
            <a:ext cx="26060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11480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Specialist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" y="40416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$70K–$130K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270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in testing and securing web applications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3154680"/>
            <a:ext cx="2606040" cy="17373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154680"/>
            <a:ext cx="260604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291840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Consultant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91840" y="40416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$90K–$180K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4270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organizations on their entire security strategy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80760" y="3154680"/>
            <a:ext cx="2606040" cy="173736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3154680"/>
            <a:ext cx="26060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172200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Hunter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172200" y="40416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Varies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42702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bugs in top companies and earn cash rewards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Penetration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field demanding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54864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Constant Learning Required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evolves rapidly. New vulnerabilities (CVEs) are discovered daily. Pen testers must stay updated with latest attack techniques, tools, and defenses.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54864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Complex &amp; Diverse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organization has unique infrastructure. Pen testers must understand web apps, mobile, cloud, IoT, and legacy systems — all at once.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88720"/>
            <a:ext cx="54864" cy="16916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Legal &amp; Ethical Boundaries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within strict legal contracts. Any mistake can have serious legal consequences. Ethics must never be compromised.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08960"/>
            <a:ext cx="54864" cy="1691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Time Pressure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61188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want thorough tests but have tight deadlines. Balancing depth of testing with time constraints is a constant challenge.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108960"/>
            <a:ext cx="54864" cy="16916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Communication Skills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61188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write clear reports for both technical teams and executives. Technical findings need to be explained in plain language.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108960"/>
            <a:ext cx="54864" cy="1691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No Two Tests Are Alike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engagement is unique. Cookie-cutter approaches don't work. Creative and adaptable thinking is essential for success.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Penetration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trends shaping cybersecurity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1298448"/>
            <a:ext cx="502920" cy="201168"/>
          </a:xfrm>
          <a:prstGeom prst="rect">
            <a:avLst/>
          </a:prstGeom>
          <a:solidFill>
            <a:srgbClr val="00D4FF">
              <a:alpha val="3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2984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66420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automate vulnerability discovery and generate attack scenarios. Pen testers use AI to work faster and smarter.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0604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298448"/>
            <a:ext cx="502920" cy="201168"/>
          </a:xfrm>
          <a:prstGeom prst="rect">
            <a:avLst/>
          </a:prstGeom>
          <a:solidFill>
            <a:srgbClr val="00FF94">
              <a:alpha val="30000"/>
            </a:srgbClr>
          </a:solidFill>
          <a:ln w="6350">
            <a:solidFill>
              <a:srgbClr val="00F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2984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10128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Security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66420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businesses move to AWS/Azure/GCP, cloud misconfiguration testing has become the #1 demand.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18872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298448"/>
            <a:ext cx="502920" cy="201168"/>
          </a:xfrm>
          <a:prstGeom prst="rect">
            <a:avLst/>
          </a:prstGeom>
          <a:solidFill>
            <a:srgbClr val="FF6B35">
              <a:alpha val="3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2984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90488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IoT &amp; Mobile Security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0488" y="166420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smart devices (cameras, TVs, cars) create new attack surfaces. Specialized IoT pen testing is growing.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08960"/>
            <a:ext cx="26060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3218688"/>
            <a:ext cx="502920" cy="201168"/>
          </a:xfrm>
          <a:prstGeom prst="rect">
            <a:avLst/>
          </a:prstGeom>
          <a:solidFill>
            <a:srgbClr val="FFD700">
              <a:alpha val="30000"/>
            </a:srgbClr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3218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768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DevSecOps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358444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built into development pipeline. Pen testers work alongside developers from day one.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108960"/>
            <a:ext cx="260604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3218688"/>
            <a:ext cx="502920" cy="201168"/>
          </a:xfrm>
          <a:prstGeom prst="rect">
            <a:avLst/>
          </a:prstGeom>
          <a:solidFill>
            <a:srgbClr val="7B2FBE">
              <a:alpha val="30000"/>
            </a:srgbClr>
          </a:solidFill>
          <a:ln w="6350">
            <a:solidFill>
              <a:srgbClr val="7B2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218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10128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Automated Continuous Testing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358444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security testing that runs 24/7 instead of periodic assessments. Always-on security validation.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0760" y="3108960"/>
            <a:ext cx="2606040" cy="169164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3108960"/>
            <a:ext cx="26060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3218688"/>
            <a:ext cx="502920" cy="201168"/>
          </a:xfrm>
          <a:prstGeom prst="rect">
            <a:avLst/>
          </a:prstGeom>
          <a:solidFill>
            <a:srgbClr val="00BCD4">
              <a:alpha val="30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3218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90488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Quantum Computing Threats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90488" y="358444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will break current encryption. Pen testers will need quantum-resistant security knowledge.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student should remember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43891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271016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289304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= ethical hacking WITH PERMISSION to find security vulnerabilities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412480" cy="43891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1801368"/>
            <a:ext cx="365760" cy="36576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1819656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get WRITTEN PERMISSION before testing any system — without it, it's a crime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295144"/>
            <a:ext cx="8412480" cy="43891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2331720"/>
            <a:ext cx="365760" cy="365760"/>
          </a:xfrm>
          <a:prstGeom prst="ellipse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235000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methodology: Plan → Recon → Scan → Analyze → Exploit → Post-Exploit → Report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825496"/>
            <a:ext cx="8412480" cy="43891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" y="2862072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6112" y="2880360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5 main types: Web, Network, Wireless, Mobile, and Cloud testing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355848"/>
            <a:ext cx="8412480" cy="43891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3392424"/>
            <a:ext cx="365760" cy="3657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3410712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the final product — findings must be documented and fixes recommended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8412480" cy="43891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" y="3922776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6112" y="3941064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skills are in massive global demand — great career with excellent salaries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416552"/>
            <a:ext cx="8412480" cy="438912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" y="4453128"/>
            <a:ext cx="365760" cy="3657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112" y="4471416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learning: Networking → Linux → Web Technologies → Security Tools → Certifications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3200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572000" cy="155448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Recommended Next Steps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CEH (Certified Ethical Hacker) — EC-Council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5753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CompTIA Security+ — Entry level cert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OSCP (Offensive Security) — Advanced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1056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TryHackMe / HackTheBox — Free practice labs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880360"/>
            <a:ext cx="3474720" cy="1554480"/>
          </a:xfrm>
          <a:prstGeom prst="rect">
            <a:avLst/>
          </a:prstGeom>
          <a:solidFill>
            <a:srgbClr val="172A45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Remember: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33101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Always get permission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Follow the methodology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Document everything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Stay ethical always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2570</Words>
  <Application>Microsoft Office PowerPoint</Application>
  <PresentationFormat>On-screen Show (16:9)</PresentationFormat>
  <Paragraphs>486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Penetration Testing: Complete Student Guide</dc:title>
  <dc:subject>PptxGenJS Presentation</dc:subject>
  <dc:creator>PptxGenJS</dc:creator>
  <cp:lastModifiedBy>hina tabasum</cp:lastModifiedBy>
  <cp:revision>3</cp:revision>
  <dcterms:created xsi:type="dcterms:W3CDTF">2026-05-19T02:15:36Z</dcterms:created>
  <dcterms:modified xsi:type="dcterms:W3CDTF">2026-07-28T17:21:43Z</dcterms:modified>
</cp:coreProperties>
</file>